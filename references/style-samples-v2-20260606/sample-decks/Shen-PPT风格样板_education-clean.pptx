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85b9b380a024dc9" /><Relationship Type="http://schemas.openxmlformats.org/officeDocument/2006/relationships/extended-properties" Target="/docProps/app.xml" Id="R6be861a895604db0" /><Relationship Type="http://schemas.openxmlformats.org/officeDocument/2006/relationships/officeDocument" Target="/ppt/presentation.xml" Id="R9d33a6fff58b4d4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d65a5c774234b96"/>
  </p:sldMasterIdLst>
  <p:notesMasterIdLst>
    <p:notesMasterId xmlns:r="http://schemas.openxmlformats.org/officeDocument/2006/relationships" r:id="R9db88be715354b4b"/>
  </p:notesMasterIdLst>
  <p:sldIdLst>
    <p:sldId xmlns:r="http://schemas.openxmlformats.org/officeDocument/2006/relationships" id="256" r:id="Red9da9656c5d4b23"/>
    <p:sldId xmlns:r="http://schemas.openxmlformats.org/officeDocument/2006/relationships" id="257" r:id="R9e4dbfa2900f4db7"/>
    <p:sldId xmlns:r="http://schemas.openxmlformats.org/officeDocument/2006/relationships" id="258" r:id="Rf628564685364b04"/>
    <p:sldId xmlns:r="http://schemas.openxmlformats.org/officeDocument/2006/relationships" id="259" r:id="R16dc0568121e408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d89fdd243b94673" /><Relationship Type="http://schemas.openxmlformats.org/officeDocument/2006/relationships/slideMaster" Target="/ppt/slideMasters/slideMaster1.xml" Id="R0d65a5c774234b96" /><Relationship Type="http://schemas.openxmlformats.org/officeDocument/2006/relationships/notesMaster" Target="/ppt/notesMasters/notesMaster1.xml" Id="R9db88be715354b4b" /><Relationship Type="http://schemas.openxmlformats.org/officeDocument/2006/relationships/presProps" Target="/ppt/presProps.xml" Id="Rfd3256d48bba4466" /><Relationship Type="http://schemas.openxmlformats.org/officeDocument/2006/relationships/viewProps" Target="/ppt/viewProps.xml" Id="Rf93c80825c4c4d54" /><Relationship Type="http://schemas.openxmlformats.org/officeDocument/2006/relationships/tableStyles" Target="/ppt/tableStyles.xml" Id="R8a93369e15184bb8" /><Relationship Type="http://schemas.openxmlformats.org/officeDocument/2006/relationships/slide" Target="/ppt/slides/slide1.xml" Id="Red9da9656c5d4b23" /><Relationship Type="http://schemas.openxmlformats.org/officeDocument/2006/relationships/slide" Target="/ppt/slides/slide2.xml" Id="R9e4dbfa2900f4db7" /><Relationship Type="http://schemas.openxmlformats.org/officeDocument/2006/relationships/slide" Target="/ppt/slides/slide3.xml" Id="Rf628564685364b04" /><Relationship Type="http://schemas.openxmlformats.org/officeDocument/2006/relationships/slide" Target="/ppt/slides/slide4.xml" Id="R16dc0568121e40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00610c3a1cc459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1b6473f94074b61" /><Relationship Type="http://schemas.openxmlformats.org/officeDocument/2006/relationships/notesMaster" Target="/ppt/notesMasters/notesMaster1.xml" Id="R48be16c41350434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910df71d9524ce4" /><Relationship Type="http://schemas.openxmlformats.org/officeDocument/2006/relationships/notesMaster" Target="/ppt/notesMasters/notesMaster1.xml" Id="Re49fb53197fa406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7882d54337546d6" /><Relationship Type="http://schemas.openxmlformats.org/officeDocument/2006/relationships/notesMaster" Target="/ppt/notesMasters/notesMaster1.xml" Id="Rffda04f3df3a462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2b64add352a4767" /><Relationship Type="http://schemas.openxmlformats.org/officeDocument/2006/relationships/notesMaster" Target="/ppt/notesMasters/notesMaster1.xml" Id="R2051a8b14b5d46d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1d82f23adc4f7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9269862be314f2a" /><Relationship Type="http://schemas.openxmlformats.org/officeDocument/2006/relationships/slideLayout" Target="/ppt/slideLayouts/slideLayout1.xml" Id="Re1247f868e8f4db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1247f868e8f4db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f35c9b6f9849ae" /><Relationship Type="http://schemas.openxmlformats.org/officeDocument/2006/relationships/image" Target="/ppt/media/image.png" Id="Rb59a19d8809a4df8" /><Relationship Type="http://schemas.openxmlformats.org/officeDocument/2006/relationships/image" Target="/ppt/media/image.svg" Id="R0f6445de640c4e8a" /><Relationship Type="http://schemas.openxmlformats.org/officeDocument/2006/relationships/image" Target="/ppt/media/image2.png" Id="Ref99f667d08643f0" /><Relationship Type="http://schemas.openxmlformats.org/officeDocument/2006/relationships/image" Target="/ppt/media/image2.svg" Id="R45e17340bb3849b7" /><Relationship Type="http://schemas.openxmlformats.org/officeDocument/2006/relationships/image" Target="/ppt/media/image3.png" Id="Rc30d4e17ad7f4cc2" /><Relationship Type="http://schemas.openxmlformats.org/officeDocument/2006/relationships/image" Target="/ppt/media/image3.svg" Id="Rf2e96a6b3c594990" /><Relationship Type="http://schemas.openxmlformats.org/officeDocument/2006/relationships/image" Target="/ppt/media/image.jpeg" Id="R3f033ea18ff34deb" /><Relationship Type="http://schemas.openxmlformats.org/officeDocument/2006/relationships/notesSlide" Target="/ppt/notesSlides/notesSlide1.xml" Id="R9d22e2821fce49e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85fc6f3b2a4050" /><Relationship Type="http://schemas.openxmlformats.org/officeDocument/2006/relationships/image" Target="/ppt/media/image4.png" Id="Rbd9e376302a0459b" /><Relationship Type="http://schemas.openxmlformats.org/officeDocument/2006/relationships/image" Target="/ppt/media/image4.svg" Id="Rfdac507dd9e34675" /><Relationship Type="http://schemas.openxmlformats.org/officeDocument/2006/relationships/image" Target="/ppt/media/image2.jpeg" Id="R1f7884e2cd904da6" /><Relationship Type="http://schemas.openxmlformats.org/officeDocument/2006/relationships/notesSlide" Target="/ppt/notesSlides/notesSlide2.xml" Id="Ref026c896056435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c0f5eda27248d5" /><Relationship Type="http://schemas.openxmlformats.org/officeDocument/2006/relationships/image" Target="/ppt/media/image5.png" Id="R95e56e309557498c" /><Relationship Type="http://schemas.openxmlformats.org/officeDocument/2006/relationships/image" Target="/ppt/media/image5.svg" Id="Rd06c55f13eec44b2" /><Relationship Type="http://schemas.openxmlformats.org/officeDocument/2006/relationships/image" Target="/ppt/media/image6.png" Id="R7487261b04ab449a" /><Relationship Type="http://schemas.openxmlformats.org/officeDocument/2006/relationships/image" Target="/ppt/media/image6.svg" Id="R9cb1db406f134333" /><Relationship Type="http://schemas.openxmlformats.org/officeDocument/2006/relationships/image" Target="/ppt/media/image7.png" Id="Ra233446123584a44" /><Relationship Type="http://schemas.openxmlformats.org/officeDocument/2006/relationships/image" Target="/ppt/media/image7.svg" Id="Rfcf76c7201ed4261" /><Relationship Type="http://schemas.openxmlformats.org/officeDocument/2006/relationships/image" Target="/ppt/media/image8.png" Id="R9c1dfd76c79f4e9e" /><Relationship Type="http://schemas.openxmlformats.org/officeDocument/2006/relationships/image" Target="/ppt/media/image8.svg" Id="R9f47b7e657a4496a" /><Relationship Type="http://schemas.openxmlformats.org/officeDocument/2006/relationships/image" Target="/ppt/media/image9.png" Id="Raea6a17b4f0d4ef0" /><Relationship Type="http://schemas.openxmlformats.org/officeDocument/2006/relationships/image" Target="/ppt/media/image9.svg" Id="R95152025dfdd4d35" /><Relationship Type="http://schemas.openxmlformats.org/officeDocument/2006/relationships/image" Target="/ppt/media/image3.jpeg" Id="R8d5f7ab0b42748a6" /><Relationship Type="http://schemas.openxmlformats.org/officeDocument/2006/relationships/notesSlide" Target="/ppt/notesSlides/notesSlide3.xml" Id="Re7f665ea26bd4e8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57fd59f0f74f35" /><Relationship Type="http://schemas.openxmlformats.org/officeDocument/2006/relationships/image" Target="/ppt/media/image10.png" Id="Rb05efdde9669431f" /><Relationship Type="http://schemas.openxmlformats.org/officeDocument/2006/relationships/image" Target="/ppt/media/image10.svg" Id="R10a645462b92420a" /><Relationship Type="http://schemas.openxmlformats.org/officeDocument/2006/relationships/image" Target="/ppt/media/image11.png" Id="R77397841a92e4807" /><Relationship Type="http://schemas.openxmlformats.org/officeDocument/2006/relationships/image" Target="/ppt/media/image11.svg" Id="R1ab603d2a74944ea" /><Relationship Type="http://schemas.openxmlformats.org/officeDocument/2006/relationships/image" Target="/ppt/media/image12.png" Id="R9913aa78343a40ed" /><Relationship Type="http://schemas.openxmlformats.org/officeDocument/2006/relationships/image" Target="/ppt/media/image12.svg" Id="Rb550e5a832ff48dd" /><Relationship Type="http://schemas.openxmlformats.org/officeDocument/2006/relationships/image" Target="/ppt/media/image13.png" Id="Rcfae54a6de1045d6" /><Relationship Type="http://schemas.openxmlformats.org/officeDocument/2006/relationships/image" Target="/ppt/media/image13.svg" Id="R5e465d1432b74cbe" /><Relationship Type="http://schemas.openxmlformats.org/officeDocument/2006/relationships/image" Target="/ppt/media/image4.jpeg" Id="R2d690ee04f5f4bf2" /><Relationship Type="http://schemas.openxmlformats.org/officeDocument/2006/relationships/notesSlide" Target="/ppt/notesSlides/notesSlide4.xml" Id="Rcdc7f78eca3d4d9d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C50771-60D3-423D-8C5D-BE5B92636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D4A4A-150B-46A0-9449-4F2213AF2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3E6506-C427-4487-92FC-8067AFF4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CBA880-9D29-4078-B246-3E1FADB04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347C0-3C8F-4A28-A356-1A66FCBB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3E419-2E28-4398-A13D-CC928A5BD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DAC52-9D2E-4FB0-BCDB-6DC7C947E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C35D6-1C7A-4806-A3AD-3EA60F83E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D12183-799A-4AB0-AFB6-63BBDF0B5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B4E53B-9B37-4854-BF11-BD0578909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3F918-272A-4043-81D4-76C917A3B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1555D5-4AC9-4B2E-BC27-76CA5820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15F44A9-8F9A-44C8-B4F0-27427BBE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4B47F1-CD7F-40AC-9B9B-8A8E264A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8D7562-A9C5-4D43-9057-3769D8055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7F1A71-74E5-488E-84BF-F37D8DFF5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3CD016-8F33-4BDA-B9E5-8467105D7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BC3F0B-1B01-433D-A527-BFA7F57F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71B72-86AA-4462-92FE-11027E10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817D65-3337-42DA-A262-800F1C191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51DAB2-E93B-4348-8F1B-7CB36298A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91CDFD-9821-47E5-8569-52736507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946E4A6-260F-4640-9E44-E675A7AC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5979128-A197-4245-88E5-85D4EC7D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F1B29A-E25A-4EAE-B6B7-BF1ACB93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8D517DD-B053-4BDD-83CB-5F1275CAD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DB5E32A-88BD-4AB3-A8D4-1941A2E63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A0FD3DD-AC21-4150-B740-FB005DDEA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09FFA85-C0C6-4380-8639-43D38E51E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8C0D8E4-671E-4E90-A073-EA0A8AED3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90600"/>
            <a:ext cx="4953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BAE8B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2BAE8B"/>
                </a:solidFill>
                <a:latin typeface="微软雅黑"/>
                <a:ea typeface="微软雅黑"/>
                <a:cs typeface="微软雅黑"/>
              </a:rPr>
              <a:t>教育清爽风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F480D5-CD84-4370-902E-2315B7850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478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智能视觉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3A3734-9BC9-4EDF-9091-545A4E57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系统课程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2B28EA-1D7D-4DFC-A1FC-EBF5D2B73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781300"/>
            <a:ext cx="447675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43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答辩样板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344E66C-BD7B-4636-AFD2-86051513A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76650"/>
            <a:ext cx="5334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65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以 V7 参考版为骨架，锁定四类页面的版面节奏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D4F5421-32AE-4BCA-AB8B-1C1EEE505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305B4A7-FF27-435E-AF74-3B25D026D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9a19d8809a4df8">
            <a:extLst>
              <a:ext uri="{96DAC541-7B7A-43D3-8B79-37D633B846F1}">
                <asvg:svgBlip xmlns:asvg="http://schemas.microsoft.com/office/drawing/2016/SVG/main" r:embed="R0f6445de640c4e8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048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5601C5C-632E-428E-A56B-B13ED86F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固定页型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ADA0CA-65C5-4F7B-BA31-BAD7C9A4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0A65CB6-B4E4-4161-858F-D251EBA8C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9f667d08643f0">
            <a:extLst>
              <a:ext uri="{96DAC541-7B7A-43D3-8B79-37D633B846F1}">
                <asvg:svgBlip xmlns:asvg="http://schemas.microsoft.com/office/drawing/2016/SVG/main" r:embed="R45e17340bb3849b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650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B945D1-9C91-4143-815C-76697353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章节导航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8A84194-E261-4D40-9AB9-6DDE46B38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5314950"/>
            <a:ext cx="1581150" cy="80010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B5C5884-C477-457B-90AD-22F5A4073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410200"/>
            <a:ext cx="8763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95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100%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0d4e17ad7f4cc2">
            <a:extLst>
              <a:ext uri="{96DAC541-7B7A-43D3-8B79-37D633B846F1}">
                <asvg:svgBlip xmlns:asvg="http://schemas.microsoft.com/office/drawing/2016/SVG/main" r:embed="Rf2e96a6b3c59499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248150" y="5772150"/>
            <a:ext cx="171450" cy="171450"/>
          </a:xfrm>
          <a:prstGeom xmlns:a="http://schemas.openxmlformats.org/drawingml/2006/main" prst="rect">
            <a:avLst/>
          </a:prstGeom>
        </p:spPr>
      </p:pic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E27BB6A-1372-4532-96BB-ED8DF95F3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734050"/>
            <a:ext cx="1104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05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元素可编辑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BED0C2-1684-47CB-A2C3-3E59117F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742950"/>
            <a:ext cx="5429250" cy="4210050"/>
          </a:xfrm>
          <a:prstGeom xmlns:a="http://schemas.openxmlformats.org/drawingml/2006/main" prst="roundRect">
            <a:avLst>
              <a:gd name="adj" fmla="val 1810"/>
            </a:avLst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9525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033ea18ff34deb"/>
          <a:stretch xmlns:a="http://schemas.openxmlformats.org/drawingml/2006/main"/>
        </p:blipFill>
        <p:spPr>
          <a:xfrm xmlns:a="http://schemas.openxmlformats.org/drawingml/2006/main">
            <a:off x="6191250" y="812006"/>
            <a:ext cx="5429250" cy="4071938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FAC76AD-4DD9-4182-B36B-82C3052CA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970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975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COURSE PRESENTATION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B20A762-949F-4AF0-896B-18C2E848E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581650"/>
            <a:ext cx="4762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172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统一主题的多风格视觉样板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9F38C1-6116-4E69-AB5D-95BD8F70F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335A671-2C8D-4185-B84E-CE40F5485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rPr>
              <a:t>Shen-PPT Style Sample · 教育清爽风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D8714E3-4270-4B4A-A00F-5912557C2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50892761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B7D67C-8BCC-4814-8878-EF6BF3903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E7CC6B-787E-422A-8951-86AEEA118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B04CF9-5844-4109-9141-EBBB43C0D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1C5CD-D862-4358-967A-540BB0FB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5A9DB4-0F61-439A-84DB-54DF6AC1A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E0ED08-CAF2-4B19-8E00-DE78439E1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89354B-E3F6-4DE6-A462-ED6AAC6F3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F49D3D-569A-4D1D-90C2-0C8967D6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62B8AB-590F-44C0-AAE0-156C7A4B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9121E7-3301-4EAA-B8ED-A8A345754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2A3803-5C47-4954-B5FC-592A46055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E0F6E24-2EF4-43A4-AEEE-7A243214C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58A4EE-0261-4ACC-9F5A-6150C8DB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B1351E-1973-4F94-8BB6-72F48186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F4E7C2-4A90-4791-8D3B-EEDBAC32E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55C49D-45FD-4C4F-9012-4E37F467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0AAF2-8A0D-4DCF-9916-1CC65CF1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FA9CA9-9D89-4616-923A-B10EDA5D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889FAAC-1A31-41A2-B755-39A70DCB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1534FA-0609-4518-962E-55D828400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4D90B6B-E16B-4173-90AD-4238909CA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581103-D9A1-4957-93A9-925D84D11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559988-0B39-4E43-ABBB-95F9302F8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27FF29-4E45-4255-9001-03DC1D84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107023-3041-4021-9A38-F7253E165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B6465E-A783-46CA-93D3-4F85A7703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B4D40BD-5199-4E0F-A143-62888D68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EDF3BA2-68D5-414B-B0C1-7086C332D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6724C71-7777-4CF5-A14E-6534DB27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9100"/>
            <a:ext cx="2095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9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49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200284-C35C-4535-AF20-094449B3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954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825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CONTENTS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DCBFBD0-939D-46DD-99C0-56C6A2514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609600"/>
            <a:ext cx="19050" cy="567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EA2F1BF-824E-4D63-B401-45D6C789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8001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1D09424-1B12-4882-B9AF-69163E239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8382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A557509-2B1A-4FCC-9118-4E2B09CD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3525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说明为什么做以及课程答辩的完成边界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27192D3-AFD5-4860-A6F2-580989382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7907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5694C1-4C21-4AB9-ADD8-E24BC6965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0002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F5A073E-FB6F-4A8A-AD21-544E3981A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0383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系统方案与技术路线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BD298C6-20D3-4A82-B7F3-5B47F965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527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展示模块结构、处理流程和关键选择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3077F0-2BCC-44E5-9A2B-BA6DA61E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9908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A41EE3-C9CA-4D9E-B360-987FE66D9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20040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67E0C82-753E-4262-8960-C748749B6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23850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核心实现与实验验证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3E4186E-DED1-430E-8D21-2CE12095A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75285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用图表、截图和流程证明实际完成情况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3A96B91-A3BA-4341-B7FF-B7FAC0321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19100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CAA052E-D315-480D-A814-B063F44BE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400550"/>
            <a:ext cx="742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330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CD8099-2285-493C-A252-C8BDC066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438650"/>
            <a:ext cx="4953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结果总结与后续展望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AFE5B6-1077-4A0B-B872-431EE419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953000"/>
            <a:ext cx="4762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4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归纳结果、限制条件和下一步优化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F1BD0D-5D76-4470-82F8-D5F34BCC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5391150"/>
            <a:ext cx="590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77A72CD-0479-4C12-8D85-DD38CBD6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504950"/>
            <a:ext cx="1314450" cy="4305300"/>
          </a:xfrm>
          <a:prstGeom xmlns:a="http://schemas.openxmlformats.org/drawingml/2006/main" prst="roundRect">
            <a:avLst>
              <a:gd name="adj" fmla="val 5797"/>
            </a:avLst>
          </a:prstGeom>
          <a:solidFill xmlns:a="http://schemas.openxmlformats.org/drawingml/2006/main">
            <a:srgbClr val="F4FAF8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9e376302a0459b">
            <a:extLst>
              <a:ext uri="{96DAC541-7B7A-43D3-8B79-37D633B846F1}">
                <asvg:svgBlip xmlns:asvg="http://schemas.microsoft.com/office/drawing/2016/SVG/main" r:embed="Rfdac507dd9e3467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344150" y="160020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020A58-4E7A-402D-B750-569E1A56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1552575"/>
            <a:ext cx="742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AE8B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2BAE8B"/>
                </a:solidFill>
                <a:latin typeface="方正小标宋简体"/>
                <a:ea typeface="方正小标宋简体"/>
                <a:cs typeface="方正小标宋简体"/>
              </a:rPr>
              <a:t>示例图像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7884e2cd904da6"/>
          <a:stretch xmlns:a="http://schemas.openxmlformats.org/drawingml/2006/main"/>
        </p:blipFill>
        <p:spPr>
          <a:xfrm xmlns:a="http://schemas.openxmlformats.org/drawingml/2006/main">
            <a:off x="10267950" y="3460750"/>
            <a:ext cx="1162050" cy="774700"/>
          </a:xfrm>
          <a:prstGeom xmlns:a="http://schemas.openxmlformats.org/drawingml/2006/main" prst="rect">
            <a:avLst/>
          </a:prstGeom>
        </p:spPr>
      </p:pic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D6060F7D-BA4F-4546-9CD6-75B9E9455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2360BB4-858B-4A44-B1B8-75C8F807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rPr>
              <a:t>Shen-PPT Style Sample · 教育清爽风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9F7DC65-4632-42E8-B2DA-8B8D1B92A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729209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25CA6D-085B-4A00-9BAE-924F02DFC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B7CC9C-1072-4E0C-AE9E-F3644CC2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69D0DEC-1AF8-4AA6-B487-A3E37430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9290F2-C307-488C-B118-DBE174EC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668A42-2098-48B7-AA72-45775AB7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8CB3A1-C8FC-463F-B16B-B0B9CD4B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0274D4-49A5-40B6-8DF0-E73F3505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DE36E0-F0ED-4A8C-A7C5-058123D03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30C7D-66C0-4925-8177-47EAEECD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694F1A-A462-4BE2-B45B-7AB799AF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BD1F00-5DD3-4383-B501-ADF863F8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88710D-856E-496E-B10A-CBAA2F357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343910-DA6E-4272-8756-36DC1E0E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4B25AF-9E48-47D4-A7B4-8D1E16B6F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55D108-741A-457B-BCE8-8919EBD02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898058-8125-4FEC-AB3D-92695427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24290F-C8E4-4B7C-9679-F6B366B4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D8C0E5-DE71-4145-B978-0882C51B6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692A72-5124-4115-8D44-B497730F0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4242C4-5DE3-4567-BE8F-2D6B2C4A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D48477-F024-4702-86D1-C37C4657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3347F04-E5CE-4172-A862-B941C1985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44C7E6B-7E51-497D-8D2D-381E4337F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BAB2A5-BB43-48F8-9E9B-821BD9445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CCD2EC-55F1-4887-9DE3-9184FC3D7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E58874B-150F-4539-837C-FA3A921C0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2BAE96-A495-4823-B489-3C21C8318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77C74F3-6672-4058-BDCB-13ECAAD15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3C8649-1CB9-4AA0-9933-605A4582A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BA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FA6DAC-9327-4247-B0CB-02B3F6980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BF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7FBFA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F1EB63F-3F4C-40F1-B767-40677E3CC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BFA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F7FBFA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1D30F17-C579-4013-A4EF-58F8440B2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3028C6-B45D-4CC7-AE78-D6DB96D8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9639839-B705-4980-8AC3-F31BDFD35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2F985F-B912-4D35-BB31-46DE309E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D8640FF-3746-49AF-9EEB-AE90AFFB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8EE141-D274-421B-A145-0E6886C2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FC3B1C-5482-4988-956B-CA8B7FC3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709BFA-9105-4E46-AFB1-A4A6960A3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162B49C-C9C0-477E-BF06-CE867A27B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9094767-793D-4E99-A6BA-92B36FE0A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23900"/>
            <a:ext cx="12573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6150" b="1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765182-F969-4BCE-97B8-82F499FAD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904875"/>
            <a:ext cx="5334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e56e309557498c">
            <a:extLst>
              <a:ext uri="{96DAC541-7B7A-43D3-8B79-37D633B846F1}">
                <asvg:svgBlip xmlns:asvg="http://schemas.microsoft.com/office/drawing/2016/SVG/main" r:embed="Rd06c55f13eec44b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019300" y="981075"/>
            <a:ext cx="381000" cy="381000"/>
          </a:xfrm>
          <a:prstGeom xmlns:a="http://schemas.openxmlformats.org/drawingml/2006/main" prst="rect">
            <a:avLst/>
          </a:prstGeom>
        </p:spPr>
      </p:pic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4F0478F-9F40-4E61-8DF3-23AB2EAAA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723900"/>
            <a:ext cx="65722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46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46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项目背景与目标定位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600C550-AEA3-4B2F-A651-2C44E1E02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90700"/>
            <a:ext cx="9334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210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本章说明项目动机、目标范围和可验证成果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BD7CF1C-59E4-45D8-8AED-F8FBAAF0E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62200"/>
            <a:ext cx="10668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5397142-30ED-447E-83D0-4948A94A1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7813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A78D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4A78D0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87261b04ab449a">
            <a:extLst>
              <a:ext uri="{96DAC541-7B7A-43D3-8B79-37D633B846F1}">
                <asvg:svgBlip xmlns:asvg="http://schemas.microsoft.com/office/drawing/2016/SVG/main" r:embed="R9cb1db406f13433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28575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FCCE095-0239-496E-AB62-C88FC572A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27813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应用动机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E53E32-2F1F-4B56-9178-3A2EB8A55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2194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把任务背景、现实约束和课程要求放在同一条叙事线上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6A3B54-0EC7-4FFA-8F26-E00BA129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A78D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4A78D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3446123584a44">
            <a:extLst>
              <a:ext uri="{96DAC541-7B7A-43D3-8B79-37D633B846F1}">
                <asvg:svgBlip xmlns:asvg="http://schemas.microsoft.com/office/drawing/2016/SVG/main" r:embed="Rfcf76c7201ed426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40386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915B15A-3DB3-47B4-9969-367570EE5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39624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目标边界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9AD8023-46F3-4003-96CD-7FAEE9A4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4005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明确系统需要完成的输入、处理、输出和展示结果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86469D-7E93-4A3F-9B7D-683CA656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43500"/>
            <a:ext cx="628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A78D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250" b="1">
                <a:solidFill>
                  <a:srgbClr val="4A78D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c1dfd76c79f4e9e">
            <a:extLst>
              <a:ext uri="{96DAC541-7B7A-43D3-8B79-37D633B846F1}">
                <asvg:svgBlip xmlns:asvg="http://schemas.microsoft.com/office/drawing/2016/SVG/main" r:embed="R9f47b7e657a4496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52550" y="52197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A7A9521-2885-4D07-BC90-21A94631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1435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232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验证方式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23ADC39-B680-422F-B811-FDA4C34BC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5581650"/>
            <a:ext cx="6572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通过运行截图、结果表格、流程图和实物图说明完成情况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7E2A18-0D60-4CF3-B3BC-AD8726DD9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81300"/>
            <a:ext cx="2362200" cy="3124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4FAF8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a6a17b4f0d4ef0">
            <a:extLst>
              <a:ext uri="{96DAC541-7B7A-43D3-8B79-37D633B846F1}">
                <asvg:svgBlip xmlns:asvg="http://schemas.microsoft.com/office/drawing/2016/SVG/main" r:embed="R95152025dfdd4d3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972550" y="28765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05599E1-6FEE-4F46-8D97-AE06D05A9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828925"/>
            <a:ext cx="17907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AE8B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00" b="1">
                <a:solidFill>
                  <a:srgbClr val="2BAE8B"/>
                </a:solidFill>
                <a:latin typeface="方正小标宋简体"/>
                <a:ea typeface="方正小标宋简体"/>
                <a:cs typeface="方正小标宋简体"/>
              </a:rPr>
              <a:t>章节示例图</a:t>
            </a:r>
          </a:p>
        </p:txBody>
      </p:sp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f7ab0b42748a6"/>
          <a:stretch xmlns:a="http://schemas.openxmlformats.org/drawingml/2006/main"/>
        </p:blipFill>
        <p:spPr>
          <a:xfrm xmlns:a="http://schemas.openxmlformats.org/drawingml/2006/main">
            <a:off x="8896350" y="3797300"/>
            <a:ext cx="2209800" cy="1473200"/>
          </a:xfrm>
          <a:prstGeom xmlns:a="http://schemas.openxmlformats.org/drawingml/2006/main" prst="rect">
            <a:avLst/>
          </a:prstGeom>
        </p:spPr>
      </p:pic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8057907-370C-4186-AE23-96CBB51E7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E24E818-3BD5-47BE-AEF7-9C3FB2AC1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rPr>
              <a:t>Shen-PPT Style Sample · 教育清爽风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1D6E32F-BCD1-4F56-A388-EAFDA0AD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798634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EFAFC8-5B81-4D96-8BB2-3DF3D853A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BF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7D9A9-9A19-4D01-8CA4-3F4F7BE9D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A232A1-E2ED-4D2E-9A75-07207428C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EC364-9498-47D0-8D73-D65F12F1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D6BB79-C1A2-42D2-896C-C3ED084F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EA70A3-D595-486D-A4A4-B6524D394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7F5E4D-6F9C-47B0-AEED-D39F4808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1CCAFA-F0B4-44EC-A039-45A9FA74C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58B700-D525-4913-8837-14F0B0AD6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B77219-10FE-4F54-9EAD-9C183512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40A489-1E9C-4A54-B482-773B383A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1AFDF-656A-48E0-8B21-EB1A86F7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8CADACF-6C6F-46D1-82FB-BDBC0516B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198FF7-65F8-4E73-9C60-D12D505B8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065B6F-BC6D-48DA-A03A-18CE7F4DC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04C246-A317-4E79-9B61-63D25E73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1A5CF5-CFD6-42E5-BBB6-B975B41A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CAE76D4-2526-45A0-B2B2-84668AE8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A614D7-9A44-46FC-96F4-E6A749749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2918FD-A9C8-4993-9151-8395AF74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495D4B-1ED3-46A8-B6D5-FDFC0CBD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90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15DDE-D18B-45FE-97DE-6802DEBC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66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EC001E-5EC6-46EE-9EA4-95043325E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DE5FA5-FE22-4D37-82DC-0F68FD916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191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C578A75-6D09-4E92-B982-09FCB2BC4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953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CE5087-02C9-48F0-BB29-287F373B8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47A075A-1687-4DC8-A3A2-07F7F2012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77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D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91062C-98A4-4C02-AB3E-C630F26B5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F05E402-1772-4BCB-AE3D-91546D1DC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7ACE74-89FB-445D-BB6F-BBACC498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D324816-A2F0-46EB-B8D4-E25E8A233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背景目标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D36817-2E3F-4D48-AB06-152627031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2BA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13E6529-3EA7-441A-8541-CC0C0CDD9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7FBFA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1">
                <a:solidFill>
                  <a:srgbClr val="F7FBFA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D975D16-B8E3-420A-A3A3-D380897A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7FBFA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1">
                <a:solidFill>
                  <a:srgbClr val="F7FBFA"/>
                </a:solidFill>
                <a:latin typeface="方正小标宋简体"/>
                <a:ea typeface="方正小标宋简体"/>
                <a:cs typeface="方正小标宋简体"/>
              </a:rPr>
              <a:t>方案路线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332E181-8C4E-413F-A94F-73BCF0E7D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11669F-B43C-435C-9475-C4B4D3BA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9BC777A-8005-433D-A389-5CA84B247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实现验证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DD43263-D6BC-4BB5-9439-0E554C4D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28600"/>
            <a:ext cx="9334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5276BAC-7C9C-4B5E-B9DB-8CCAD7DE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85750"/>
            <a:ext cx="9334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20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E3C62BB-F632-4CCB-85FD-74B6F59E3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85775"/>
            <a:ext cx="933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00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结果总结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775652E-1075-4D50-8574-DBE5268ED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9550"/>
            <a:ext cx="5334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02 系统方案与技术路线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333195A-1F50-4D20-B3F4-B7124167E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7225"/>
            <a:ext cx="6858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5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系统方案与技术路线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9B11ED9-2A06-4A99-844B-5A36B0C5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95250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948F950-5BB9-4A40-AE45-07E9F1492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381750"/>
            <a:ext cx="11163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AD7CF0D-EEAC-4CBC-B9F8-F77D061A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15100"/>
            <a:ext cx="6858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750" b="0">
                <a:solidFill>
                  <a:srgbClr val="58736D"/>
                </a:solidFill>
                <a:latin typeface="Times New Roman"/>
                <a:ea typeface="Times New Roman"/>
                <a:cs typeface="Times New Roman"/>
              </a:rPr>
              <a:t>Shen-PPT Style Sample · 教育清爽风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5995D26-0A91-46D7-88CB-B863DDCCA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38900"/>
            <a:ext cx="4191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050" b="0">
                <a:solidFill>
                  <a:srgbClr val="2BAE8B"/>
                </a:solidFill>
                <a:latin typeface="Times New Roman"/>
                <a:ea typeface="Times New Roman"/>
                <a:cs typeface="Times New Roman"/>
              </a:rPr>
              <a:t>04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0593879-203D-48FE-9709-8DE582C47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049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10478">
            <a:solidFill>
              <a:srgbClr val="C8DFD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47DAC19-2897-4C53-8643-377A19DCD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01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78D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4A78D0"/>
                </a:solidFill>
                <a:latin typeface="Times New Roman"/>
                <a:ea typeface="Times New Roman"/>
                <a:cs typeface="Times New Roman"/>
              </a:rPr>
              <a:t>01</a:t>
            </a:r>
          </a:p>
        </p:txBody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5efdde9669431f">
            <a:extLst>
              <a:ext uri="{96DAC541-7B7A-43D3-8B79-37D633B846F1}">
                <asvg:svgBlip xmlns:asvg="http://schemas.microsoft.com/office/drawing/2016/SVG/main" r:embed="R10a645462b9242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14287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6BF2B23-F48D-476C-873C-E2B5C7BA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3716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数据采集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C75A8B0-A344-47DF-BB7E-5B7439CC9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2477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5A7525D-1123-42A7-9FB6-D980915E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2763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摄像头或数据文件进入系统，作为后续处理的标准输入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0841481-8F8D-40B5-A6FC-39A1F731E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0383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A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93C1486-9C5D-4BCE-B39E-88151BE3B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10478">
            <a:solidFill>
              <a:srgbClr val="C8DFDA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6D7DAF6-822A-4E6F-94F8-4611BCC4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78D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4A78D0"/>
                </a:solidFill>
                <a:latin typeface="Times New Roman"/>
                <a:ea typeface="Times New Roman"/>
                <a:cs typeface="Times New Roman"/>
              </a:rPr>
              <a:t>02</a:t>
            </a:r>
          </a:p>
        </p:txBody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397841a92e4807">
            <a:extLst>
              <a:ext uri="{96DAC541-7B7A-43D3-8B79-37D633B846F1}">
                <asvg:svgBlip xmlns:asvg="http://schemas.microsoft.com/office/drawing/2016/SVG/main" r:embed="R1ab603d2a74944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26479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97AAD22-BED4-44BD-BA56-733B9F83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5908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目标检测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C98E9DA-C3DD-4593-AF2A-A2747F8B8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4669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005666B-CC54-4BA4-97A8-735744D81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4955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算法输出目标位置、置信度和状态判断依据，用于后续控制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6B9C1E6-C0AD-4A6C-B601-9B72A5085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57550"/>
            <a:ext cx="228600" cy="2286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2BA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306C090F-A06F-437D-A13A-B43E20762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59055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10478">
            <a:solidFill>
              <a:srgbClr val="C8DFD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984C199-7F22-4C7F-87A8-2BF2BCE20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38575"/>
            <a:ext cx="4572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4A78D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>
                <a:solidFill>
                  <a:srgbClr val="4A78D0"/>
                </a:solidFill>
                <a:latin typeface="Times New Roman"/>
                <a:ea typeface="Times New Roman"/>
                <a:cs typeface="Times New Roman"/>
              </a:rPr>
              <a:t>03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13aa78343a40ed">
            <a:extLst>
              <a:ext uri="{96DAC541-7B7A-43D3-8B79-37D633B846F1}">
                <asvg:svgBlip xmlns:asvg="http://schemas.microsoft.com/office/drawing/2016/SVG/main" r:embed="Rb550e5a832ff48d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76350" y="38671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2D2391-809B-4B17-B9B5-CB0745E8A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810000"/>
            <a:ext cx="12001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defRPr>
            </a:pPr>
            <a:r>
              <a:rPr sz="1875" b="1">
                <a:solidFill>
                  <a:srgbClr val="18302C"/>
                </a:solidFill>
                <a:latin typeface="微软雅黑"/>
                <a:ea typeface="微软雅黑"/>
                <a:cs typeface="微软雅黑"/>
              </a:rPr>
              <a:t>结果验证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6B8E835-7FD0-4507-AB39-6D321ECD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3686175"/>
            <a:ext cx="14288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FD91371-663D-4D58-B553-1C9EEACE3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714750"/>
            <a:ext cx="3124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12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截图、表格与趋势图共同说明模块是否按预期工作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09FB2DB-D3C1-44AE-B3C0-95D5DCFCE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9055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756EF15-0A9A-4BAC-8EF5-9805E4895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29200"/>
            <a:ext cx="12954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AE8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BAE8B"/>
                </a:solidFill>
                <a:latin typeface="微软雅黑"/>
                <a:ea typeface="微软雅黑"/>
                <a:cs typeface="微软雅黑"/>
              </a:rPr>
              <a:t>样板标准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6B8D0BD7-F7B3-4D10-9694-3C2DE968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029200"/>
            <a:ext cx="398145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2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正文页展示实现顺序、证据位置和结果判断；同一批次元素保持统一颜色和统一图标逻辑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7AD43B2-D358-4DF7-8B90-BCDBB79CE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1104900"/>
            <a:ext cx="47244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4FAF8"/>
          </a:solidFill>
          <a:ln xmlns:a="http://schemas.openxmlformats.org/drawingml/2006/main" w="11430">
            <a:solidFill>
              <a:srgbClr val="2BAE8B"/>
            </a:solidFill>
            <a:prstDash val="solid"/>
          </a:ln>
        </p:spPr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ae54a6de1045d6">
            <a:extLst>
              <a:ext uri="{96DAC541-7B7A-43D3-8B79-37D633B846F1}">
                <asvg:svgBlip xmlns:asvg="http://schemas.microsoft.com/office/drawing/2016/SVG/main" r:embed="R5e465d1432b74cb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1200150"/>
            <a:ext cx="190500" cy="190500"/>
          </a:xfrm>
          <a:prstGeom xmlns:a="http://schemas.openxmlformats.org/drawingml/2006/main" prst="rect">
            <a:avLst/>
          </a:prstGeom>
        </p:spPr>
      </p:pic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9A49FD4C-460D-4A4B-BAC3-106FFDB6C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52525"/>
            <a:ext cx="4152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AE8B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1350" b="1">
                <a:solidFill>
                  <a:srgbClr val="2BAE8B"/>
                </a:solidFill>
                <a:latin typeface="方正小标宋简体"/>
                <a:ea typeface="方正小标宋简体"/>
                <a:cs typeface="方正小标宋简体"/>
              </a:rPr>
              <a:t>核心证据图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90ee04f5f4bf2"/>
          <a:stretch xmlns:a="http://schemas.openxmlformats.org/drawingml/2006/main"/>
        </p:blipFill>
        <p:spPr>
          <a:xfrm xmlns:a="http://schemas.openxmlformats.org/drawingml/2006/main">
            <a:off x="7613650" y="1562100"/>
            <a:ext cx="3098800" cy="2324100"/>
          </a:xfrm>
          <a:prstGeom xmlns:a="http://schemas.openxmlformats.org/drawingml/2006/main" prst="rect">
            <a:avLst/>
          </a:prstGeom>
        </p:spPr>
      </p:pic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F057AC7-298C-4728-8BA6-6F749486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229100"/>
            <a:ext cx="4724400" cy="20574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6F3"/>
          </a:solidFill>
          <a:ln xmlns:a="http://schemas.openxmlformats.org/drawingml/2006/main" w="9525">
            <a:solidFill>
              <a:srgbClr val="C8DFDA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E4069AF-EA77-4856-B3BD-EB0558474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381500"/>
            <a:ext cx="1619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BAE8B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2BAE8B"/>
                </a:solidFill>
                <a:latin typeface="微软雅黑"/>
                <a:ea typeface="微软雅黑"/>
                <a:cs typeface="微软雅黑"/>
              </a:rPr>
              <a:t>结果趋势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A23EF11-95AF-4962-899A-F5D24E4F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57800"/>
            <a:ext cx="4572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7C2E804-3E1F-4E7D-9883-71A97B08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采集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A5E6BFA-6B04-45DB-8721-BB19B4E9E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029200"/>
            <a:ext cx="4572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F9DF02AF-53FB-4399-B278-0BA06106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检测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4B8CAA00-3DB1-432C-B600-4AE3861F2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5124450"/>
            <a:ext cx="457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78D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728A6D68-E886-4952-AE3A-C2E4E33AA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控制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79DC409-7AFD-4A04-8E90-C272C3A0D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876800"/>
            <a:ext cx="4572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AE8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4DE82D2-E33C-45ED-86D3-628E1D7F9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5905500"/>
            <a:ext cx="6858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defRPr>
            </a:pPr>
            <a:r>
              <a:rPr sz="975" b="0">
                <a:solidFill>
                  <a:srgbClr val="58736D"/>
                </a:solidFill>
                <a:latin typeface="方正小标宋简体"/>
                <a:ea typeface="方正小标宋简体"/>
                <a:cs typeface="方正小标宋简体"/>
              </a:rPr>
              <a:t>验证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403C20CE-CE99-446F-9BA4-F46DA14A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829300"/>
            <a:ext cx="4076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DF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14965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2026-06-06T14:47:34.7550000Z</dcterms:created>
  <dcterms:modified xsi:type="dcterms:W3CDTF">2026-06-06T14:47:34.7550000Z</dcterms:modified>
</coreProperties>
</file>